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Urbanist Medium"/>
      <p:regular r:id="rId21"/>
      <p:bold r:id="rId22"/>
      <p:italic r:id="rId23"/>
      <p:boldItalic r:id="rId24"/>
    </p:embeddedFont>
    <p:embeddedFont>
      <p:font typeface="Urbanist SemiBold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t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UrbanistMedium-bold.fntdata"/><Relationship Id="rId21" Type="http://schemas.openxmlformats.org/officeDocument/2006/relationships/font" Target="fonts/UrbanistMedium-regular.fntdata"/><Relationship Id="rId24" Type="http://schemas.openxmlformats.org/officeDocument/2006/relationships/font" Target="fonts/UrbanistMedium-boldItalic.fntdata"/><Relationship Id="rId23" Type="http://schemas.openxmlformats.org/officeDocument/2006/relationships/font" Target="fonts/UrbanistMedium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26" Type="http://schemas.openxmlformats.org/officeDocument/2006/relationships/font" Target="fonts/UrbanistSemiBold-bold.fntdata"/><Relationship Id="rId25" Type="http://schemas.openxmlformats.org/officeDocument/2006/relationships/font" Target="fonts/UrbanistSemiBold-regular.fntdata"/><Relationship Id="rId28" Type="http://schemas.openxmlformats.org/officeDocument/2006/relationships/font" Target="fonts/UrbanistSemiBold-boldItalic.fntdata"/><Relationship Id="rId27" Type="http://schemas.openxmlformats.org/officeDocument/2006/relationships/font" Target="fonts/UrbanistSemiBold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Urbanist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Urbanist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22T20:11:32.813">
    <p:pos x="1770" y="84"/>
    <p:text>Label that the left one is the input configuration, label the right as ACO parameters… mention that we implemented in python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d682ae43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d682ae43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d682ae43f5_0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d682ae43f5_0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682ae43f5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d682ae43f5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8ab0f1df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8ab0f1df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d8ab0f1df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d8ab0f1df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8ab0f1df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d8ab0f1df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8ab0f1df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8ab0f1df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d8ab0f1df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d8ab0f1df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d8ab0f1df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d8ab0f1df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8ab0f1df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d8ab0f1df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d8ab0f1df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d8ab0f1df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d8ab0f1df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d8ab0f1df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d8ab0f1df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d8ab0f1df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4" r="7835" t="16786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1" r="25039" t="35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1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/>
          <p:nvPr/>
        </p:nvSpPr>
        <p:spPr>
          <a:xfrm>
            <a:off x="228600" y="4742975"/>
            <a:ext cx="17364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BFS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3" name="Google Shape;483;p53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Grid Maze Pathfinding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Comparison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4" name="Google Shape;484;p53"/>
          <p:cNvSpPr txBox="1"/>
          <p:nvPr>
            <p:ph idx="1" type="subTitle"/>
          </p:nvPr>
        </p:nvSpPr>
        <p:spPr>
          <a:xfrm>
            <a:off x="228600" y="1738950"/>
            <a:ext cx="2195100" cy="635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Noble Carpenter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Teagan Tobias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Christian Winchester</a:t>
            </a:r>
            <a:endParaRPr sz="1200">
              <a:solidFill>
                <a:srgbClr val="F0F6FC"/>
              </a:solidFill>
              <a:highlight>
                <a:srgbClr val="0D1117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0F6FC"/>
              </a:solidFill>
              <a:highlight>
                <a:srgbClr val="0D1117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85" name="Google Shape;485;p53"/>
          <p:cNvSpPr/>
          <p:nvPr/>
        </p:nvSpPr>
        <p:spPr>
          <a:xfrm>
            <a:off x="2423700" y="4742975"/>
            <a:ext cx="19347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</a:t>
            </a: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FS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6" name="Google Shape;486;p53"/>
          <p:cNvSpPr/>
          <p:nvPr/>
        </p:nvSpPr>
        <p:spPr>
          <a:xfrm>
            <a:off x="4807850" y="4742975"/>
            <a:ext cx="18534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A*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7" name="Google Shape;487;p53"/>
          <p:cNvSpPr/>
          <p:nvPr/>
        </p:nvSpPr>
        <p:spPr>
          <a:xfrm>
            <a:off x="7179000" y="4742975"/>
            <a:ext cx="17364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ACO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88" name="Google Shape;48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638" y="4767631"/>
            <a:ext cx="296625" cy="289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4" title="Screenshot 2026-04-15 2040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4"/>
          <p:cNvSpPr txBox="1"/>
          <p:nvPr>
            <p:ph type="title"/>
          </p:nvPr>
        </p:nvSpPr>
        <p:spPr>
          <a:xfrm>
            <a:off x="471525" y="457202"/>
            <a:ext cx="6707700" cy="56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The Problem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5" name="Google Shape;495;p54"/>
          <p:cNvSpPr/>
          <p:nvPr/>
        </p:nvSpPr>
        <p:spPr>
          <a:xfrm>
            <a:off x="320625" y="1106775"/>
            <a:ext cx="2658300" cy="3420900"/>
          </a:xfrm>
          <a:prstGeom prst="rect">
            <a:avLst/>
          </a:prstGeom>
          <a:solidFill>
            <a:srgbClr val="CBC6C6">
              <a:alpha val="9182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6" name="Google Shape;496;p54"/>
          <p:cNvSpPr txBox="1"/>
          <p:nvPr/>
        </p:nvSpPr>
        <p:spPr>
          <a:xfrm>
            <a:off x="-43575" y="1363925"/>
            <a:ext cx="3022500" cy="3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Objective:</a:t>
            </a:r>
            <a:r>
              <a:rPr lang="en" sz="1200">
                <a:solidFill>
                  <a:schemeClr val="dk1"/>
                </a:solidFill>
              </a:rPr>
              <a:t> Find the shortest path from start to finish in a 2D grid. </a:t>
            </a:r>
            <a:endParaRPr sz="1200">
              <a:solidFill>
                <a:schemeClr val="dk1"/>
              </a:solidFill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Constraints:</a:t>
            </a:r>
            <a:r>
              <a:rPr lang="en" sz="1200">
                <a:solidFill>
                  <a:schemeClr val="dk1"/>
                </a:solidFill>
              </a:rPr>
              <a:t> Movement restricted to four cardinal directions. </a:t>
            </a:r>
            <a:endParaRPr sz="1200">
              <a:solidFill>
                <a:schemeClr val="dk1"/>
              </a:solidFill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Cost Model:</a:t>
            </a:r>
            <a:r>
              <a:rPr lang="en" sz="1200">
                <a:solidFill>
                  <a:schemeClr val="dk1"/>
                </a:solidFill>
              </a:rPr>
              <a:t> Unweighted movement  </a:t>
            </a:r>
            <a:endParaRPr sz="1200">
              <a:solidFill>
                <a:schemeClr val="dk1"/>
              </a:solidFill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Methodology:</a:t>
            </a:r>
            <a:r>
              <a:rPr lang="en" sz="1200">
                <a:solidFill>
                  <a:schemeClr val="dk1"/>
                </a:solidFill>
              </a:rPr>
              <a:t> Comparative analysis of four algorithms </a:t>
            </a:r>
            <a:endParaRPr sz="1200">
              <a:solidFill>
                <a:schemeClr val="dk1"/>
              </a:solidFill>
            </a:endParaRPr>
          </a:p>
          <a:p>
            <a:pPr indent="-304800" lvl="0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Evaluation Metrics:</a:t>
            </a:r>
            <a:r>
              <a:rPr lang="en" sz="1200">
                <a:solidFill>
                  <a:schemeClr val="dk1"/>
                </a:solidFill>
              </a:rPr>
              <a:t> Runtime, memory usage, path optimality, and node expansion.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7" name="Google Shape;497;p54"/>
          <p:cNvSpPr/>
          <p:nvPr/>
        </p:nvSpPr>
        <p:spPr>
          <a:xfrm>
            <a:off x="332687" y="309600"/>
            <a:ext cx="2658300" cy="711000"/>
          </a:xfrm>
          <a:prstGeom prst="rect">
            <a:avLst/>
          </a:prstGeom>
          <a:solidFill>
            <a:srgbClr val="CBC6C6">
              <a:alpha val="327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0F6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98" name="Google Shape;498;p54" title="Screenshot_20260422_151536_Instagram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0650" y="309600"/>
            <a:ext cx="4974500" cy="421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5"/>
          <p:cNvSpPr txBox="1"/>
          <p:nvPr/>
        </p:nvSpPr>
        <p:spPr>
          <a:xfrm>
            <a:off x="4381800" y="47700"/>
            <a:ext cx="48645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Breadth-First Search</a:t>
            </a:r>
            <a:endParaRPr b="1" sz="35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04" name="Google Shape;504;p55" title="BFS Maze 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0" y="0"/>
            <a:ext cx="41144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5"/>
          <p:cNvSpPr txBox="1"/>
          <p:nvPr/>
        </p:nvSpPr>
        <p:spPr>
          <a:xfrm>
            <a:off x="4492200" y="714675"/>
            <a:ext cx="10983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6" name="Google Shape;506;p55"/>
          <p:cNvSpPr txBox="1"/>
          <p:nvPr/>
        </p:nvSpPr>
        <p:spPr>
          <a:xfrm>
            <a:off x="4365450" y="683025"/>
            <a:ext cx="1351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Benchmark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7" name="Google Shape;507;p55"/>
          <p:cNvSpPr txBox="1"/>
          <p:nvPr/>
        </p:nvSpPr>
        <p:spPr>
          <a:xfrm>
            <a:off x="4513760" y="940325"/>
            <a:ext cx="4412700" cy="3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first-in-first-out queue, visiting all nodes at distance k before k+1</a:t>
            </a:r>
            <a:endParaRPr b="1" i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Always finds the optimal path</a:t>
            </a:r>
            <a:endParaRPr b="1" sz="20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Simple, deterministic baseline for comparison</a:t>
            </a:r>
            <a:endParaRPr b="1" sz="20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Memory-intensive due to large frontier sizes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Time Complexity: (V+E)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Space Complexity: (V)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08" name="Google Shape;508;p55"/>
          <p:cNvCxnSpPr/>
          <p:nvPr/>
        </p:nvCxnSpPr>
        <p:spPr>
          <a:xfrm rot="10800000">
            <a:off x="4481050" y="2108800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55"/>
          <p:cNvCxnSpPr/>
          <p:nvPr/>
        </p:nvCxnSpPr>
        <p:spPr>
          <a:xfrm rot="10800000">
            <a:off x="4449963" y="4098920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56" title="DFS Maze 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225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56"/>
          <p:cNvSpPr txBox="1"/>
          <p:nvPr/>
        </p:nvSpPr>
        <p:spPr>
          <a:xfrm>
            <a:off x="4296250" y="66450"/>
            <a:ext cx="4847700" cy="7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DEPTH-FIRST SEARCH</a:t>
            </a:r>
            <a:endParaRPr b="1" sz="35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6" name="Google Shape;516;p56"/>
          <p:cNvSpPr txBox="1"/>
          <p:nvPr/>
        </p:nvSpPr>
        <p:spPr>
          <a:xfrm>
            <a:off x="4513750" y="940325"/>
            <a:ext cx="4412700" cy="3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rgbClr val="212529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rPr>
              <a:t>Uses</a:t>
            </a:r>
            <a:r>
              <a:rPr b="1" i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last-in-first-out stack, with randomized direction order for reproducibility</a:t>
            </a:r>
            <a:endParaRPr b="1" i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12529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Lower memory uses than BFS</a:t>
            </a:r>
            <a:endParaRPr b="1" sz="2000">
              <a:solidFill>
                <a:srgbClr val="212529"/>
              </a:solidFill>
              <a:highlight>
                <a:srgbClr val="FFFFFF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12529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Often find a path quickly </a:t>
            </a:r>
            <a:endParaRPr b="1" sz="2000">
              <a:solidFill>
                <a:srgbClr val="212529"/>
              </a:solidFill>
              <a:highlight>
                <a:srgbClr val="FFFFFF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12529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Does not guarantee shortest path; quality degrades with size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Time Complexity: (V+E), worst case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Space Complexity: (V), worst case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7" name="Google Shape;517;p56"/>
          <p:cNvCxnSpPr/>
          <p:nvPr/>
        </p:nvCxnSpPr>
        <p:spPr>
          <a:xfrm rot="10800000">
            <a:off x="4481050" y="2119350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56"/>
          <p:cNvCxnSpPr/>
          <p:nvPr/>
        </p:nvCxnSpPr>
        <p:spPr>
          <a:xfrm rot="10800000">
            <a:off x="4481050" y="3824303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57" title="Astar Pathfinding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225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57"/>
          <p:cNvSpPr txBox="1"/>
          <p:nvPr/>
        </p:nvSpPr>
        <p:spPr>
          <a:xfrm>
            <a:off x="5323950" y="103350"/>
            <a:ext cx="29802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5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A* SEARCH</a:t>
            </a:r>
            <a:endParaRPr b="1" sz="35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5" name="Google Shape;525;p57"/>
          <p:cNvSpPr txBox="1"/>
          <p:nvPr/>
        </p:nvSpPr>
        <p:spPr>
          <a:xfrm>
            <a:off x="4513750" y="672425"/>
            <a:ext cx="4412700" cy="44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Uses a priority queue with f(n) = g(n) + h(n), where g(n) is path cost and h(n) is Manhattan distance.</a:t>
            </a:r>
            <a:endParaRPr b="1" i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Optimal and usually faster than BFS</a:t>
            </a:r>
            <a:endParaRPr b="1" sz="20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19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Expands fewer nodes using heuristic guidance</a:t>
            </a:r>
            <a:endParaRPr b="1" sz="19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19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Performance drops as obstacles increase and heuristic becomes less informative</a:t>
            </a:r>
            <a:endParaRPr b="1" sz="17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Time Complexity: (V+E), worst case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Space Complexity: (V)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26" name="Google Shape;526;p57"/>
          <p:cNvCxnSpPr/>
          <p:nvPr/>
        </p:nvCxnSpPr>
        <p:spPr>
          <a:xfrm rot="10800000">
            <a:off x="4481050" y="2087675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57"/>
          <p:cNvCxnSpPr/>
          <p:nvPr/>
        </p:nvCxnSpPr>
        <p:spPr>
          <a:xfrm rot="10800000">
            <a:off x="4481050" y="4162262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" name="Google Shape;532;p58" title="Ant Colony Maze Gif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11197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8"/>
          <p:cNvSpPr txBox="1"/>
          <p:nvPr/>
        </p:nvSpPr>
        <p:spPr>
          <a:xfrm>
            <a:off x="3921857" y="228600"/>
            <a:ext cx="7234800" cy="17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ANT COLONY OPTIMIZATION</a:t>
            </a:r>
            <a:endParaRPr sz="30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4" name="Google Shape;534;p58"/>
          <p:cNvSpPr txBox="1"/>
          <p:nvPr/>
        </p:nvSpPr>
        <p:spPr>
          <a:xfrm>
            <a:off x="4027475" y="766450"/>
            <a:ext cx="14892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Nature inspired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5" name="Google Shape;535;p58"/>
          <p:cNvSpPr txBox="1"/>
          <p:nvPr/>
        </p:nvSpPr>
        <p:spPr>
          <a:xfrm>
            <a:off x="4386525" y="1094700"/>
            <a:ext cx="4412700" cy="4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Paths are built probabilistically using pheromone levels and heuristic distance</a:t>
            </a:r>
            <a:endParaRPr b="1" i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Bio-inspired, does not rely on explicit graph traversal</a:t>
            </a:r>
            <a:endParaRPr b="1" sz="18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Stochastic and parameter-dependent</a:t>
            </a:r>
            <a:endParaRPr b="1" sz="18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12529"/>
                </a:solidFill>
                <a:highlight>
                  <a:schemeClr val="lt1"/>
                </a:highlight>
                <a:latin typeface="Urbanist"/>
                <a:ea typeface="Urbanist"/>
                <a:cs typeface="Urbanist"/>
                <a:sym typeface="Urbanist"/>
              </a:rPr>
              <a:t>•</a:t>
            </a: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 guarantee of optimality 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Time Complexity: (iterations x ants x N2)(~constant factor ~1000 x BFS)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Space Complexity: (N2) for pheromone matrix</a:t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212529"/>
              </a:solidFill>
              <a:highlight>
                <a:schemeClr val="lt1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36" name="Google Shape;536;p58"/>
          <p:cNvCxnSpPr/>
          <p:nvPr/>
        </p:nvCxnSpPr>
        <p:spPr>
          <a:xfrm rot="10800000">
            <a:off x="4353825" y="1960800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8"/>
          <p:cNvCxnSpPr/>
          <p:nvPr/>
        </p:nvCxnSpPr>
        <p:spPr>
          <a:xfrm rot="10800000">
            <a:off x="4353825" y="3286250"/>
            <a:ext cx="4478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45775"/>
            <a:ext cx="2728425" cy="518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5575" y="-45775"/>
            <a:ext cx="2728425" cy="52491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4" name="Google Shape;544;p59"/>
          <p:cNvCxnSpPr/>
          <p:nvPr/>
        </p:nvCxnSpPr>
        <p:spPr>
          <a:xfrm>
            <a:off x="2728425" y="-35262"/>
            <a:ext cx="0" cy="5228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59"/>
          <p:cNvSpPr txBox="1"/>
          <p:nvPr/>
        </p:nvSpPr>
        <p:spPr>
          <a:xfrm>
            <a:off x="2810550" y="133775"/>
            <a:ext cx="3522900" cy="9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u="sng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Implementations</a:t>
            </a:r>
            <a:endParaRPr sz="3500" u="sng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6" name="Google Shape;546;p59"/>
          <p:cNvSpPr txBox="1"/>
          <p:nvPr/>
        </p:nvSpPr>
        <p:spPr>
          <a:xfrm>
            <a:off x="2810550" y="11700"/>
            <a:ext cx="15099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Input configuration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47" name="Google Shape;547;p59"/>
          <p:cNvCxnSpPr>
            <a:stCxn id="546" idx="1"/>
          </p:cNvCxnSpPr>
          <p:nvPr/>
        </p:nvCxnSpPr>
        <p:spPr>
          <a:xfrm flipH="1">
            <a:off x="2490750" y="228600"/>
            <a:ext cx="319800" cy="113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8" name="Google Shape;548;p59"/>
          <p:cNvSpPr txBox="1"/>
          <p:nvPr/>
        </p:nvSpPr>
        <p:spPr>
          <a:xfrm>
            <a:off x="4976175" y="4891158"/>
            <a:ext cx="1439400" cy="4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ACO Parameters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49" name="Google Shape;549;p59"/>
          <p:cNvCxnSpPr/>
          <p:nvPr/>
        </p:nvCxnSpPr>
        <p:spPr>
          <a:xfrm flipH="1" rot="10800000">
            <a:off x="6267425" y="4912325"/>
            <a:ext cx="403500" cy="130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0" name="Google Shape;550;p59"/>
          <p:cNvSpPr txBox="1"/>
          <p:nvPr/>
        </p:nvSpPr>
        <p:spPr>
          <a:xfrm>
            <a:off x="2810550" y="832550"/>
            <a:ext cx="3522900" cy="4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Python 3.x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Method: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optimality, BFS, which provides the true shortest path in unweighted grids, and all other algorithms were compared against it.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0"/>
          <p:cNvSpPr txBox="1"/>
          <p:nvPr/>
        </p:nvSpPr>
        <p:spPr>
          <a:xfrm>
            <a:off x="549525" y="179575"/>
            <a:ext cx="3245100" cy="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Execution Time vs Maze Size</a:t>
            </a:r>
            <a:endParaRPr b="1" sz="3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56" name="Google Shape;55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41400"/>
            <a:ext cx="4525049" cy="2320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51975" y="1408500"/>
            <a:ext cx="4577025" cy="35667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8" name="Google Shape;558;p60"/>
          <p:cNvCxnSpPr/>
          <p:nvPr/>
        </p:nvCxnSpPr>
        <p:spPr>
          <a:xfrm rot="10800000">
            <a:off x="-100" y="1325400"/>
            <a:ext cx="4600800" cy="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60"/>
          <p:cNvSpPr txBox="1"/>
          <p:nvPr/>
        </p:nvSpPr>
        <p:spPr>
          <a:xfrm>
            <a:off x="4757925" y="457200"/>
            <a:ext cx="4001400" cy="46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As seen from both diagrams, the ant colony optimization runs quiteNumber System Venn Diagram slowly while everything else stays relatively equivalent</a:t>
            </a:r>
            <a:endParaRPr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1"/>
          <p:cNvSpPr txBox="1"/>
          <p:nvPr/>
        </p:nvSpPr>
        <p:spPr>
          <a:xfrm>
            <a:off x="0" y="0"/>
            <a:ext cx="44817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Peak Memory Usage vs Maze Size</a:t>
            </a:r>
            <a:endParaRPr b="1" sz="3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65" name="Google Shape;56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950" y="2743525"/>
            <a:ext cx="4526899" cy="239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28750"/>
            <a:ext cx="4526900" cy="3714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7" name="Google Shape;567;p61"/>
          <p:cNvCxnSpPr/>
          <p:nvPr/>
        </p:nvCxnSpPr>
        <p:spPr>
          <a:xfrm flipH="1">
            <a:off x="0" y="1339688"/>
            <a:ext cx="34356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8" name="Google Shape;568;p61"/>
          <p:cNvSpPr txBox="1"/>
          <p:nvPr/>
        </p:nvSpPr>
        <p:spPr>
          <a:xfrm>
            <a:off x="5186050" y="115800"/>
            <a:ext cx="3368700" cy="3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Here we can see a </a:t>
            </a: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distinct difference between the usage of memory across all models</a:t>
            </a:r>
            <a:endParaRPr sz="2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2"/>
          <p:cNvSpPr txBox="1"/>
          <p:nvPr/>
        </p:nvSpPr>
        <p:spPr>
          <a:xfrm>
            <a:off x="0" y="0"/>
            <a:ext cx="34440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Path Length vs Maze Size</a:t>
            </a:r>
            <a:endParaRPr b="1" sz="3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74" name="Google Shape;57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43525"/>
            <a:ext cx="4572001" cy="242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16550"/>
            <a:ext cx="4572000" cy="371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62"/>
          <p:cNvCxnSpPr/>
          <p:nvPr/>
        </p:nvCxnSpPr>
        <p:spPr>
          <a:xfrm flipH="1">
            <a:off x="0" y="1339688"/>
            <a:ext cx="34356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62"/>
          <p:cNvSpPr txBox="1"/>
          <p:nvPr/>
        </p:nvSpPr>
        <p:spPr>
          <a:xfrm>
            <a:off x="5205150" y="11250"/>
            <a:ext cx="3984000" cy="3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Interestingly both path lengths are </a:t>
            </a: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equal</a:t>
            </a: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between both BFS and A*, this confirms that the Manhattan distance heuristic is </a:t>
            </a: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admissible</a:t>
            </a: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consistent. </a:t>
            </a:r>
            <a:endParaRPr sz="2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9400" y="2767950"/>
            <a:ext cx="4554599" cy="23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407375"/>
            <a:ext cx="4554600" cy="37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63"/>
          <p:cNvSpPr txBox="1"/>
          <p:nvPr/>
        </p:nvSpPr>
        <p:spPr>
          <a:xfrm>
            <a:off x="0" y="0"/>
            <a:ext cx="40461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Nodes Explored vs Obstacle Density</a:t>
            </a:r>
            <a:endParaRPr b="1" sz="3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5" name="Google Shape;585;p63"/>
          <p:cNvCxnSpPr/>
          <p:nvPr/>
        </p:nvCxnSpPr>
        <p:spPr>
          <a:xfrm flipH="1">
            <a:off x="0" y="1339688"/>
            <a:ext cx="34356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63"/>
          <p:cNvSpPr txBox="1"/>
          <p:nvPr/>
        </p:nvSpPr>
        <p:spPr>
          <a:xfrm>
            <a:off x="5121600" y="75450"/>
            <a:ext cx="3793800" cy="3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For DFS, BFS, and A* nodes explored decrease as </a:t>
            </a: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obstacle density increases because more walls reduce the number of reachable cells</a:t>
            </a:r>
            <a:endParaRPr sz="2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2429600"/>
            <a:ext cx="4524899" cy="23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9200" y="1407375"/>
            <a:ext cx="4648149" cy="3416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3" name="Google Shape;593;p64"/>
          <p:cNvCxnSpPr/>
          <p:nvPr/>
        </p:nvCxnSpPr>
        <p:spPr>
          <a:xfrm flipH="1">
            <a:off x="0" y="1339688"/>
            <a:ext cx="3435600" cy="1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64"/>
          <p:cNvSpPr txBox="1"/>
          <p:nvPr/>
        </p:nvSpPr>
        <p:spPr>
          <a:xfrm>
            <a:off x="0" y="0"/>
            <a:ext cx="4046100" cy="10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Success Rate </a:t>
            </a:r>
            <a:r>
              <a:rPr b="1" lang="en" sz="3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vs Obstacle Density</a:t>
            </a:r>
            <a:endParaRPr b="1" sz="3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64"/>
          <p:cNvSpPr txBox="1"/>
          <p:nvPr/>
        </p:nvSpPr>
        <p:spPr>
          <a:xfrm>
            <a:off x="4618950" y="131275"/>
            <a:ext cx="4524900" cy="22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BFS, DFS, and A* achieve 100% success on all solvable mazes, as expected - these algorithms are complete for finite graphs. </a:t>
            </a:r>
            <a:endParaRPr sz="29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950" y="989100"/>
            <a:ext cx="7328100" cy="19141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65"/>
          <p:cNvSpPr txBox="1"/>
          <p:nvPr/>
        </p:nvSpPr>
        <p:spPr>
          <a:xfrm>
            <a:off x="3188850" y="228600"/>
            <a:ext cx="3094500" cy="7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Trade-off</a:t>
            </a:r>
            <a:endParaRPr sz="3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2" name="Google Shape;602;p65"/>
          <p:cNvSpPr txBox="1"/>
          <p:nvPr/>
        </p:nvSpPr>
        <p:spPr>
          <a:xfrm>
            <a:off x="907950" y="3038225"/>
            <a:ext cx="7328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As seen from the chart, BFS dominates every category proving why its the benchmark for this project</a:t>
            </a:r>
            <a:endParaRPr sz="2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